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22304E"/>
                </a:solidFill>
              </a:defRPr>
            </a:pPr>
            <a:r>
              <a:t>Alumni Mentoring &amp; Engagement Management System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914400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7D8BA3"/>
                </a:solidFill>
              </a:defRPr>
            </a:pPr>
            <a:r>
              <a:t>Review 3 — Final UI &amp; Database Demonstration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10332720" cy="228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000" b="1">
                <a:solidFill>
                  <a:srgbClr val="3154E8"/>
                </a:solidFill>
              </a:defRPr>
            </a:pPr>
            <a:r>
              <a:t>DBMS Course Project</a:t>
            </a:r>
          </a:p>
          <a:p>
            <a:pPr algn="ctr">
              <a:defRPr sz="2100">
                <a:solidFill>
                  <a:srgbClr val="22304E"/>
                </a:solidFill>
              </a:defRPr>
            </a:pPr>
            <a:r>
              <a:t>Sashrika Reddy Alimity</a:t>
            </a:r>
          </a:p>
          <a:p>
            <a:pPr algn="ctr">
              <a:defRPr sz="1600">
                <a:solidFill>
                  <a:srgbClr val="7D8BA3"/>
                </a:solidFill>
              </a:defRPr>
            </a:pPr>
            <a:r>
              <a:t>Roll No: 25WU0102248</a:t>
            </a:r>
          </a:p>
          <a:p>
            <a:pPr algn="ctr">
              <a:defRPr sz="1600">
                <a:solidFill>
                  <a:srgbClr val="7D8BA3"/>
                </a:solidFill>
              </a:defRPr>
            </a:pPr>
            <a:r>
              <a:t>MySQL + Python/Tkinter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22304E"/>
                </a:solidFill>
              </a:defRPr>
            </a:pPr>
            <a:r>
              <a:t>Problem Statement &amp;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71600"/>
            <a:ext cx="104241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414E66"/>
                </a:solidFill>
              </a:defRPr>
            </a:pPr>
            <a:r>
              <a:t>Alumni and student information needs to be maintained in one centralized relational database.</a:t>
            </a:r>
          </a:p>
          <a:p>
            <a:pPr>
              <a:spcAft>
                <a:spcPts val="1200"/>
              </a:spcAft>
              <a:defRPr sz="1800">
                <a:solidFill>
                  <a:srgbClr val="414E66"/>
                </a:solidFill>
              </a:defRPr>
            </a:pPr>
            <a:r>
              <a:t>Students should be able to find alumni mentors based on relevant expertise.</a:t>
            </a:r>
          </a:p>
          <a:p>
            <a:pPr>
              <a:spcAft>
                <a:spcPts val="1200"/>
              </a:spcAft>
              <a:defRPr sz="1800">
                <a:solidFill>
                  <a:srgbClr val="414E66"/>
                </a:solidFill>
              </a:defRPr>
            </a:pPr>
            <a:r>
              <a:t>The system tracks mentor requests, assignments, sessions and wider alumni engagement.</a:t>
            </a:r>
          </a:p>
          <a:p>
            <a:pPr>
              <a:spcAft>
                <a:spcPts val="1200"/>
              </a:spcAft>
              <a:defRPr sz="1800">
                <a:solidFill>
                  <a:srgbClr val="414E66"/>
                </a:solidFill>
              </a:defRPr>
            </a:pPr>
            <a:r>
              <a:t>Events, registrations, donations and feedback are stored as connected database records.</a:t>
            </a:r>
          </a:p>
          <a:p>
            <a:pPr>
              <a:spcAft>
                <a:spcPts val="1200"/>
              </a:spcAft>
              <a:defRPr sz="1800">
                <a:solidFill>
                  <a:srgbClr val="414E66"/>
                </a:solidFill>
              </a:defRPr>
            </a:pPr>
            <a:r>
              <a:t>Final demonstration focuses on a working UI and visible database operations.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22304E"/>
                </a:solidFill>
              </a:defRPr>
            </a:pPr>
            <a:r>
              <a:t>System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914400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7D8BA3"/>
                </a:solidFill>
              </a:defRPr>
            </a:pPr>
            <a:r>
              <a:t>User Interface → Application Layer → Database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2148840"/>
            <a:ext cx="2377440" cy="1143000"/>
          </a:xfrm>
          <a:prstGeom prst="roundRect">
            <a:avLst/>
          </a:prstGeom>
          <a:solidFill>
            <a:srgbClr val="3154E8"/>
          </a:solidFill>
          <a:ln>
            <a:solidFill>
              <a:srgbClr val="315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Dashboard / UI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0" y="2148840"/>
            <a:ext cx="2377440" cy="1143000"/>
          </a:xfrm>
          <a:prstGeom prst="roundRect">
            <a:avLst/>
          </a:prstGeom>
          <a:solidFill>
            <a:srgbClr val="3154E8"/>
          </a:solidFill>
          <a:ln>
            <a:solidFill>
              <a:srgbClr val="315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Python +</a:t>
            </a:r>
          </a:p>
          <a:p>
            <a:r>
              <a:t>MySQL Connector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0" y="2148840"/>
            <a:ext cx="2377440" cy="1143000"/>
          </a:xfrm>
          <a:prstGeom prst="roundRect">
            <a:avLst/>
          </a:prstGeom>
          <a:solidFill>
            <a:srgbClr val="3154E8"/>
          </a:solidFill>
          <a:ln>
            <a:solidFill>
              <a:srgbClr val="315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MySQL</a:t>
            </a:r>
          </a:p>
          <a:p>
            <a:r>
              <a:t>Database</a:t>
            </a:r>
          </a:p>
        </p:txBody>
      </p:sp>
      <p:sp>
        <p:nvSpPr>
          <p:cNvPr id="7" name="Right Arrow 6"/>
          <p:cNvSpPr/>
          <p:nvPr/>
        </p:nvSpPr>
        <p:spPr>
          <a:xfrm>
            <a:off x="3383280" y="2423160"/>
            <a:ext cx="822960" cy="548640"/>
          </a:xfrm>
          <a:prstGeom prst="rightArrow">
            <a:avLst/>
          </a:prstGeom>
          <a:solidFill>
            <a:srgbClr val="7D8BA3"/>
          </a:solidFill>
          <a:ln>
            <a:solidFill>
              <a:srgbClr val="7D8B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ight Arrow 7"/>
          <p:cNvSpPr/>
          <p:nvPr/>
        </p:nvSpPr>
        <p:spPr>
          <a:xfrm>
            <a:off x="7040880" y="2423160"/>
            <a:ext cx="822960" cy="548640"/>
          </a:xfrm>
          <a:prstGeom prst="rightArrow">
            <a:avLst/>
          </a:prstGeom>
          <a:solidFill>
            <a:srgbClr val="7D8BA3"/>
          </a:solidFill>
          <a:ln>
            <a:solidFill>
              <a:srgbClr val="7D8B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3977639"/>
            <a:ext cx="100584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>
                <a:solidFill>
                  <a:srgbClr val="414E66"/>
                </a:solidFill>
              </a:defRPr>
            </a:pPr>
            <a:r>
              <a:t>Frontend provides forms, tables, search and dashboard views.</a:t>
            </a:r>
          </a:p>
          <a:p>
            <a:pPr>
              <a:spcAft>
                <a:spcPts val="1200"/>
              </a:spcAft>
              <a:defRPr sz="1600">
                <a:solidFill>
                  <a:srgbClr val="414E66"/>
                </a:solidFill>
              </a:defRPr>
            </a:pPr>
            <a:r>
              <a:t>Application layer handles validation and SQL operations.</a:t>
            </a:r>
          </a:p>
          <a:p>
            <a:pPr>
              <a:spcAft>
                <a:spcPts val="1200"/>
              </a:spcAft>
              <a:defRPr sz="1600">
                <a:solidFill>
                  <a:srgbClr val="414E66"/>
                </a:solidFill>
              </a:defRPr>
            </a:pPr>
            <a:r>
              <a:t>MySQL stores the relational data and enforces primary/foreign-key relationships.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22304E"/>
                </a:solidFill>
              </a:defRPr>
            </a:pPr>
            <a:r>
              <a:t>Database Design — 13 Tables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0584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>
                <a:solidFill>
                  <a:srgbClr val="414E66"/>
                </a:solidFill>
              </a:defRPr>
            </a:pPr>
            <a:r>
              <a:t>Program • Student • Alumni • Employment</a:t>
            </a:r>
          </a:p>
          <a:p>
            <a:pPr>
              <a:spcAft>
                <a:spcPts val="1200"/>
              </a:spcAft>
              <a:defRPr sz="1900">
                <a:solidFill>
                  <a:srgbClr val="414E66"/>
                </a:solidFill>
              </a:defRPr>
            </a:pPr>
            <a:r>
              <a:t>Expertise_Area • Alumni_Expertise</a:t>
            </a:r>
          </a:p>
          <a:p>
            <a:pPr>
              <a:spcAft>
                <a:spcPts val="1200"/>
              </a:spcAft>
              <a:defRPr sz="1900">
                <a:solidFill>
                  <a:srgbClr val="414E66"/>
                </a:solidFill>
              </a:defRPr>
            </a:pPr>
            <a:r>
              <a:t>Mentor_Request • Mentor_Assignment • Mentor_Session</a:t>
            </a:r>
          </a:p>
          <a:p>
            <a:pPr>
              <a:spcAft>
                <a:spcPts val="1200"/>
              </a:spcAft>
              <a:defRPr sz="1900">
                <a:solidFill>
                  <a:srgbClr val="414E66"/>
                </a:solidFill>
              </a:defRPr>
            </a:pPr>
            <a:r>
              <a:t>Event • Event_Registration</a:t>
            </a:r>
          </a:p>
          <a:p>
            <a:pPr>
              <a:spcAft>
                <a:spcPts val="1200"/>
              </a:spcAft>
              <a:defRPr sz="1900">
                <a:solidFill>
                  <a:srgbClr val="414E66"/>
                </a:solidFill>
              </a:defRPr>
            </a:pPr>
            <a:r>
              <a:t>Donation • Feedback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38912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>
                <a:solidFill>
                  <a:srgbClr val="414E66"/>
                </a:solidFill>
              </a:defRPr>
            </a:pPr>
            <a:r>
              <a:t>Normalized relational design with primary keys and foreign keys.</a:t>
            </a:r>
          </a:p>
          <a:p>
            <a:pPr>
              <a:spcAft>
                <a:spcPts val="1200"/>
              </a:spcAft>
              <a:defRPr sz="1600">
                <a:solidFill>
                  <a:srgbClr val="414E66"/>
                </a:solidFill>
              </a:defRPr>
            </a:pPr>
            <a:r>
              <a:t>Alumni_Expertise connects alumni with multiple expertise areas.</a:t>
            </a:r>
          </a:p>
          <a:p>
            <a:pPr>
              <a:spcAft>
                <a:spcPts val="1200"/>
              </a:spcAft>
              <a:defRPr sz="1600">
                <a:solidFill>
                  <a:srgbClr val="414E66"/>
                </a:solidFill>
              </a:defRPr>
            </a:pPr>
            <a:r>
              <a:t>Event_Registration connects participants with events.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22304E"/>
                </a:solidFill>
              </a:defRPr>
            </a:pPr>
            <a:r>
              <a:t>Database Implementation &amp; Dataset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417320"/>
            <a:ext cx="242316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E0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500" b="1">
                <a:solidFill>
                  <a:srgbClr val="3154E8"/>
                </a:solidFill>
              </a:defRPr>
            </a:pPr>
            <a:r>
              <a:t>150</a:t>
            </a:r>
          </a:p>
          <a:p>
            <a:pPr algn="ctr">
              <a:defRPr sz="1100">
                <a:solidFill>
                  <a:srgbClr val="7D8BA3"/>
                </a:solidFill>
              </a:defRPr>
            </a:pPr>
            <a:r>
              <a:t>Students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337560" y="1417320"/>
            <a:ext cx="242316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E0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500" b="1">
                <a:solidFill>
                  <a:srgbClr val="3154E8"/>
                </a:solidFill>
              </a:defRPr>
            </a:pPr>
            <a:r>
              <a:t>100</a:t>
            </a:r>
          </a:p>
          <a:p>
            <a:pPr algn="ctr">
              <a:defRPr sz="1100">
                <a:solidFill>
                  <a:srgbClr val="7D8BA3"/>
                </a:solidFill>
              </a:defRPr>
            </a:pPr>
            <a:r>
              <a:t>Alumni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0" y="1417320"/>
            <a:ext cx="242316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E0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500" b="1">
                <a:solidFill>
                  <a:srgbClr val="3154E8"/>
                </a:solidFill>
              </a:defRPr>
            </a:pPr>
            <a:r>
              <a:t>120</a:t>
            </a:r>
          </a:p>
          <a:p>
            <a:pPr algn="ctr">
              <a:defRPr sz="1100">
                <a:solidFill>
                  <a:srgbClr val="7D8BA3"/>
                </a:solidFill>
              </a:defRPr>
            </a:pPr>
            <a:r>
              <a:t>Mentor Requests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549640" y="1417320"/>
            <a:ext cx="242316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E0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500" b="1">
                <a:solidFill>
                  <a:srgbClr val="3154E8"/>
                </a:solidFill>
              </a:defRPr>
            </a:pPr>
            <a:r>
              <a:t>100</a:t>
            </a:r>
          </a:p>
          <a:p>
            <a:pPr algn="ctr">
              <a:defRPr sz="1100">
                <a:solidFill>
                  <a:srgbClr val="7D8BA3"/>
                </a:solidFill>
              </a:defRPr>
            </a:pPr>
            <a:r>
              <a:t>Sessions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057400" y="3063240"/>
            <a:ext cx="242316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E0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500" b="1">
                <a:solidFill>
                  <a:srgbClr val="3154E8"/>
                </a:solidFill>
              </a:defRPr>
            </a:pPr>
            <a:r>
              <a:t>25</a:t>
            </a:r>
          </a:p>
          <a:p>
            <a:pPr algn="ctr">
              <a:defRPr sz="1100">
                <a:solidFill>
                  <a:srgbClr val="7D8BA3"/>
                </a:solidFill>
              </a:defRPr>
            </a:pPr>
            <a:r>
              <a:t>Events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663440" y="3063240"/>
            <a:ext cx="242316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E0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500" b="1">
                <a:solidFill>
                  <a:srgbClr val="3154E8"/>
                </a:solidFill>
              </a:defRPr>
            </a:pPr>
            <a:r>
              <a:t>180</a:t>
            </a:r>
          </a:p>
          <a:p>
            <a:pPr algn="ctr">
              <a:defRPr sz="1100">
                <a:solidFill>
                  <a:srgbClr val="7D8BA3"/>
                </a:solidFill>
              </a:defRPr>
            </a:pPr>
            <a:r>
              <a:t>Registrations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69480" y="3063240"/>
            <a:ext cx="242316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E0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500" b="1">
                <a:solidFill>
                  <a:srgbClr val="3154E8"/>
                </a:solidFill>
              </a:defRPr>
            </a:pPr>
            <a:r>
              <a:t>100</a:t>
            </a:r>
          </a:p>
          <a:p>
            <a:pPr algn="ctr">
              <a:defRPr sz="1100">
                <a:solidFill>
                  <a:srgbClr val="7D8BA3"/>
                </a:solidFill>
              </a:defRPr>
            </a:pPr>
            <a:r>
              <a:t>Donations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800600"/>
            <a:ext cx="100584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500">
                <a:solidFill>
                  <a:srgbClr val="414E66"/>
                </a:solidFill>
              </a:defRPr>
            </a:pPr>
            <a:r>
              <a:t>Large sample data supports realistic search, filtering, joins, aggregation and live CRUD demonstrations.</a:t>
            </a:r>
          </a:p>
          <a:p>
            <a:pPr>
              <a:spcAft>
                <a:spcPts val="1200"/>
              </a:spcAft>
              <a:defRPr sz="1500">
                <a:solidFill>
                  <a:srgbClr val="414E66"/>
                </a:solidFill>
              </a:defRPr>
            </a:pPr>
            <a:r>
              <a:t>Existing table names and relationships are preserved.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22304E"/>
                </a:solidFill>
              </a:defRPr>
            </a:pPr>
            <a:r>
              <a:t>UI Modules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234440"/>
            <a:ext cx="106070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>
                <a:solidFill>
                  <a:srgbClr val="414E66"/>
                </a:solidFill>
              </a:defRPr>
            </a:pPr>
            <a:r>
              <a:t>Dashboard — summary cards, navigation and recent activity</a:t>
            </a:r>
          </a:p>
          <a:p>
            <a:pPr>
              <a:spcAft>
                <a:spcPts val="1200"/>
              </a:spcAft>
              <a:defRPr sz="1600">
                <a:solidFill>
                  <a:srgbClr val="414E66"/>
                </a:solidFill>
              </a:defRPr>
            </a:pPr>
            <a:r>
              <a:t>Students — add, view, update and delete records</a:t>
            </a:r>
          </a:p>
          <a:p>
            <a:pPr>
              <a:spcAft>
                <a:spcPts val="1200"/>
              </a:spcAft>
              <a:defRPr sz="1600">
                <a:solidFill>
                  <a:srgbClr val="414E66"/>
                </a:solidFill>
              </a:defRPr>
            </a:pPr>
            <a:r>
              <a:t>Alumni — profiles and career information</a:t>
            </a:r>
          </a:p>
          <a:p>
            <a:pPr>
              <a:spcAft>
                <a:spcPts val="1200"/>
              </a:spcAft>
              <a:defRPr sz="1600">
                <a:solidFill>
                  <a:srgbClr val="414E66"/>
                </a:solidFill>
              </a:defRPr>
            </a:pPr>
            <a:r>
              <a:t>Mentor Search — search alumni by expertise</a:t>
            </a:r>
          </a:p>
          <a:p>
            <a:pPr>
              <a:spcAft>
                <a:spcPts val="1200"/>
              </a:spcAft>
              <a:defRPr sz="1600">
                <a:solidFill>
                  <a:srgbClr val="414E66"/>
                </a:solidFill>
              </a:defRPr>
            </a:pPr>
            <a:r>
              <a:t>Mentor Requests — request and assignment workflow</a:t>
            </a:r>
          </a:p>
          <a:p>
            <a:pPr>
              <a:spcAft>
                <a:spcPts val="1200"/>
              </a:spcAft>
              <a:defRPr sz="1600">
                <a:solidFill>
                  <a:srgbClr val="414E66"/>
                </a:solidFill>
              </a:defRPr>
            </a:pPr>
            <a:r>
              <a:t>Sessions — mentoring session tracking</a:t>
            </a:r>
          </a:p>
          <a:p>
            <a:pPr>
              <a:spcAft>
                <a:spcPts val="1200"/>
              </a:spcAft>
              <a:defRPr sz="1600">
                <a:solidFill>
                  <a:srgbClr val="414E66"/>
                </a:solidFill>
              </a:defRPr>
            </a:pPr>
            <a:r>
              <a:t>Events — event and registration management</a:t>
            </a:r>
          </a:p>
          <a:p>
            <a:pPr>
              <a:spcAft>
                <a:spcPts val="1200"/>
              </a:spcAft>
              <a:defRPr sz="1600">
                <a:solidFill>
                  <a:srgbClr val="414E66"/>
                </a:solidFill>
              </a:defRPr>
            </a:pPr>
            <a:r>
              <a:t>Donations / Feedback / Reports — engagement and analytics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22304E"/>
                </a:solidFill>
              </a:defRPr>
            </a:pPr>
            <a:r>
              <a:t>Live CRUD Demonstration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914400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7D8BA3"/>
                </a:solidFill>
              </a:defRPr>
            </a:pPr>
            <a:r>
              <a:t>This is the key Review 3 demonstration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325880"/>
            <a:ext cx="10058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>
                <a:solidFill>
                  <a:srgbClr val="414E66"/>
                </a:solidFill>
              </a:defRPr>
            </a:pPr>
            <a:r>
              <a:t>INSERT — add a new student through the UI.</a:t>
            </a:r>
          </a:p>
          <a:p>
            <a:pPr>
              <a:spcAft>
                <a:spcPts val="1200"/>
              </a:spcAft>
              <a:defRPr sz="1900">
                <a:solidFill>
                  <a:srgbClr val="414E66"/>
                </a:solidFill>
              </a:defRPr>
            </a:pPr>
            <a:r>
              <a:t>VIEW — show the newly inserted student in the Students table.</a:t>
            </a:r>
          </a:p>
          <a:p>
            <a:pPr>
              <a:spcAft>
                <a:spcPts val="1200"/>
              </a:spcAft>
              <a:defRPr sz="1900">
                <a:solidFill>
                  <a:srgbClr val="414E66"/>
                </a:solidFill>
              </a:defRPr>
            </a:pPr>
            <a:r>
              <a:t>VERIFY — run SELECT * FROM Student in MySQL Workbench and show the same record.</a:t>
            </a:r>
          </a:p>
          <a:p>
            <a:pPr>
              <a:spcAft>
                <a:spcPts val="1200"/>
              </a:spcAft>
              <a:defRPr sz="1900">
                <a:solidFill>
                  <a:srgbClr val="414E66"/>
                </a:solidFill>
              </a:defRPr>
            </a:pPr>
            <a:r>
              <a:t>DELETE — delete the demo student through the UI.</a:t>
            </a:r>
          </a:p>
          <a:p>
            <a:pPr>
              <a:spcAft>
                <a:spcPts val="1200"/>
              </a:spcAft>
              <a:defRPr sz="1900">
                <a:solidFill>
                  <a:srgbClr val="414E66"/>
                </a:solidFill>
              </a:defRPr>
            </a:pPr>
            <a:r>
              <a:t>VERIFY AGAIN — refresh the UI and MySQL Workbench to show the record is gone.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291840" y="4800600"/>
            <a:ext cx="5577840" cy="777240"/>
          </a:xfrm>
          <a:prstGeom prst="roundRect">
            <a:avLst/>
          </a:prstGeom>
          <a:solidFill>
            <a:srgbClr val="E4F7EF"/>
          </a:solidFill>
          <a:ln>
            <a:solidFill>
              <a:srgbClr val="3AA0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3AA078"/>
                </a:solidFill>
              </a:defRPr>
            </a:pPr>
            <a:r>
              <a:t>INSERT  →  VIEW  →  DELETE  →  VIEW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22304E"/>
                </a:solidFill>
              </a:defRPr>
            </a:pPr>
            <a:r>
              <a:t>SQL Operations Demonstrated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28016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700">
                <a:solidFill>
                  <a:srgbClr val="414E66"/>
                </a:solidFill>
              </a:defRPr>
            </a:pPr>
            <a:r>
              <a:t>INSERT: add student, alumni, event, donation or feedback records.</a:t>
            </a:r>
          </a:p>
          <a:p>
            <a:pPr>
              <a:spcAft>
                <a:spcPts val="1200"/>
              </a:spcAft>
              <a:defRPr sz="1700">
                <a:solidFill>
                  <a:srgbClr val="414E66"/>
                </a:solidFill>
              </a:defRPr>
            </a:pPr>
            <a:r>
              <a:t>UPDATE: modify editable profile/status information.</a:t>
            </a:r>
          </a:p>
          <a:p>
            <a:pPr>
              <a:spcAft>
                <a:spcPts val="1200"/>
              </a:spcAft>
              <a:defRPr sz="1700">
                <a:solidFill>
                  <a:srgbClr val="414E66"/>
                </a:solidFill>
              </a:defRPr>
            </a:pPr>
            <a:r>
              <a:t>DELETE: remove a permitted record and verify the change.</a:t>
            </a:r>
          </a:p>
          <a:p>
            <a:pPr>
              <a:spcAft>
                <a:spcPts val="1200"/>
              </a:spcAft>
              <a:defRPr sz="1700">
                <a:solidFill>
                  <a:srgbClr val="414E66"/>
                </a:solidFill>
              </a:defRPr>
            </a:pPr>
            <a:r>
              <a:t>SELECT + JOIN: mentor search and student–mentor matching.</a:t>
            </a:r>
          </a:p>
          <a:p>
            <a:pPr>
              <a:spcAft>
                <a:spcPts val="1200"/>
              </a:spcAft>
              <a:defRPr sz="1700">
                <a:solidFill>
                  <a:srgbClr val="414E66"/>
                </a:solidFill>
              </a:defRPr>
            </a:pPr>
            <a:r>
              <a:t>GROUP BY / aggregation: event participation and donation reports.</a:t>
            </a:r>
          </a:p>
          <a:p>
            <a:pPr>
              <a:spcAft>
                <a:spcPts val="1200"/>
              </a:spcAft>
              <a:defRPr sz="1700">
                <a:solidFill>
                  <a:srgbClr val="414E66"/>
                </a:solidFill>
              </a:defRPr>
            </a:pPr>
            <a:r>
              <a:t>Filtering: pending mentor requests and donations ≥ ₹25,000.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22304E"/>
                </a:solidFill>
              </a:defRPr>
            </a:pPr>
            <a:r>
              <a:t>Validation &amp; Testing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25880"/>
            <a:ext cx="105156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700">
                <a:solidFill>
                  <a:srgbClr val="414E66"/>
                </a:solidFill>
              </a:defRPr>
            </a:pPr>
            <a:r>
              <a:t>Unique email validation for student and alumni records.</a:t>
            </a:r>
          </a:p>
          <a:p>
            <a:pPr>
              <a:spcAft>
                <a:spcPts val="1200"/>
              </a:spcAft>
              <a:defRPr sz="1700">
                <a:solidFill>
                  <a:srgbClr val="414E66"/>
                </a:solidFill>
              </a:defRPr>
            </a:pPr>
            <a:r>
              <a:t>Required-field validation before database insertion.</a:t>
            </a:r>
          </a:p>
          <a:p>
            <a:pPr>
              <a:spcAft>
                <a:spcPts val="1200"/>
              </a:spcAft>
              <a:defRPr sz="1700">
                <a:solidFill>
                  <a:srgbClr val="414E66"/>
                </a:solidFill>
              </a:defRPr>
            </a:pPr>
            <a:r>
              <a:t>Foreign-key checks prevent invalid relationships.</a:t>
            </a:r>
          </a:p>
          <a:p>
            <a:pPr>
              <a:spcAft>
                <a:spcPts val="1200"/>
              </a:spcAft>
              <a:defRPr sz="1700">
                <a:solidFill>
                  <a:srgbClr val="414E66"/>
                </a:solidFill>
              </a:defRPr>
            </a:pPr>
            <a:r>
              <a:t>Donation amounts should be positive.</a:t>
            </a:r>
          </a:p>
          <a:p>
            <a:pPr>
              <a:spcAft>
                <a:spcPts val="1200"/>
              </a:spcAft>
              <a:defRPr sz="1700">
                <a:solidFill>
                  <a:srgbClr val="414E66"/>
                </a:solidFill>
              </a:defRPr>
            </a:pPr>
            <a:r>
              <a:t>Feedback ratings should remain within the intended range.</a:t>
            </a:r>
          </a:p>
          <a:p>
            <a:pPr>
              <a:spcAft>
                <a:spcPts val="1200"/>
              </a:spcAft>
              <a:defRPr sz="1700">
                <a:solidFill>
                  <a:srgbClr val="414E66"/>
                </a:solidFill>
              </a:defRPr>
            </a:pPr>
            <a:r>
              <a:t>Event registrations should respect event capacity.</a:t>
            </a:r>
          </a:p>
          <a:p>
            <a:pPr>
              <a:spcAft>
                <a:spcPts val="1200"/>
              </a:spcAft>
              <a:defRPr sz="1700">
                <a:solidFill>
                  <a:srgbClr val="414E66"/>
                </a:solidFill>
              </a:defRPr>
            </a:pPr>
            <a:r>
              <a:t>Database connection failures should show a user-friendly error.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22304E"/>
                </a:solidFill>
              </a:defRPr>
            </a:pPr>
            <a:r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508760"/>
            <a:ext cx="1005840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>
                <a:solidFill>
                  <a:srgbClr val="414E66"/>
                </a:solidFill>
              </a:defRPr>
            </a:pPr>
            <a:r>
              <a:t>The project provides a centralized relational database for alumni mentoring and engagement.</a:t>
            </a:r>
          </a:p>
          <a:p>
            <a:pPr>
              <a:spcAft>
                <a:spcPts val="1200"/>
              </a:spcAft>
              <a:defRPr sz="1900">
                <a:solidFill>
                  <a:srgbClr val="414E66"/>
                </a:solidFill>
              </a:defRPr>
            </a:pPr>
            <a:r>
              <a:t>The 13-table design separates academic, career, mentoring and engagement data.</a:t>
            </a:r>
          </a:p>
          <a:p>
            <a:pPr>
              <a:spcAft>
                <a:spcPts val="1200"/>
              </a:spcAft>
              <a:defRPr sz="1900">
                <a:solidFill>
                  <a:srgbClr val="414E66"/>
                </a:solidFill>
              </a:defRPr>
            </a:pPr>
            <a:r>
              <a:t>The expanded dataset makes live CRUD and reporting demonstrations realistic.</a:t>
            </a:r>
          </a:p>
          <a:p>
            <a:pPr>
              <a:spcAft>
                <a:spcPts val="1200"/>
              </a:spcAft>
              <a:defRPr sz="1900">
                <a:solidFill>
                  <a:srgbClr val="414E66"/>
                </a:solidFill>
              </a:defRPr>
            </a:pPr>
            <a:r>
              <a:t>Review 3 demonstrates the connection between the UI and the database through visible insertion, deletion and viewing operations.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0" y="5212080"/>
            <a:ext cx="57607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500" b="1">
                <a:solidFill>
                  <a:srgbClr val="3154E8"/>
                </a:solidFill>
              </a:defRPr>
            </a:pPr>
            <a: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